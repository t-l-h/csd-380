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9"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94767"/>
  </p:normalViewPr>
  <p:slideViewPr>
    <p:cSldViewPr snapToGrid="0">
      <p:cViewPr varScale="1">
        <p:scale>
          <a:sx n="126" d="100"/>
          <a:sy n="126" d="100"/>
        </p:scale>
        <p:origin x="232" y="2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1/17/26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549899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1/17/26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4497825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1/17/26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776547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1/17/26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46746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1/17/26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34054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1/17/26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89594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1/17/26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062121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1/17/26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35092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1/17/26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5499212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1/17/26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62233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1/17/26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504724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1/17/26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5306125"/>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8" r:id="rId6"/>
    <p:sldLayoutId id="2147483693" r:id="rId7"/>
    <p:sldLayoutId id="2147483694" r:id="rId8"/>
    <p:sldLayoutId id="2147483695" r:id="rId9"/>
    <p:sldLayoutId id="2147483697" r:id="rId10"/>
    <p:sldLayoutId id="2147483696"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0B98925-0550-1AFB-C1DC-02792400FB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4" name="Picture 3" descr="A web of dots connected">
            <a:extLst>
              <a:ext uri="{FF2B5EF4-FFF2-40B4-BE49-F238E27FC236}">
                <a16:creationId xmlns:a16="http://schemas.microsoft.com/office/drawing/2014/main" id="{8B2C7309-8A3D-D0C4-8C76-EF9432CC2A6D}"/>
              </a:ext>
            </a:extLst>
          </p:cNvPr>
          <p:cNvPicPr>
            <a:picLocks noChangeAspect="1"/>
          </p:cNvPicPr>
          <p:nvPr/>
        </p:nvPicPr>
        <p:blipFill>
          <a:blip r:embed="rId2"/>
          <a:srcRect l="19109" r="1336" b="1"/>
          <a:stretch>
            <a:fillRect/>
          </a:stretch>
        </p:blipFill>
        <p:spPr>
          <a:xfrm>
            <a:off x="20" y="10"/>
            <a:ext cx="12191979" cy="6857990"/>
          </a:xfrm>
          <a:prstGeom prst="rect">
            <a:avLst/>
          </a:prstGeom>
        </p:spPr>
      </p:pic>
      <p:sp>
        <p:nvSpPr>
          <p:cNvPr id="11" name="Rectangle 10">
            <a:extLst>
              <a:ext uri="{FF2B5EF4-FFF2-40B4-BE49-F238E27FC236}">
                <a16:creationId xmlns:a16="http://schemas.microsoft.com/office/drawing/2014/main" id="{0CCA9273-E74E-A306-1F74-BEF9EDA30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462170"/>
          </a:xfrm>
          <a:prstGeom prst="rect">
            <a:avLst/>
          </a:prstGeom>
          <a:gradFill>
            <a:gsLst>
              <a:gs pos="0">
                <a:schemeClr val="bg1">
                  <a:alpha val="0"/>
                </a:schemeClr>
              </a:gs>
              <a:gs pos="48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8F366ECD-D81B-9018-103F-7D89A6A6EE6B}"/>
              </a:ext>
            </a:extLst>
          </p:cNvPr>
          <p:cNvSpPr>
            <a:spLocks noGrp="1"/>
          </p:cNvSpPr>
          <p:nvPr>
            <p:ph type="ctrTitle"/>
          </p:nvPr>
        </p:nvSpPr>
        <p:spPr>
          <a:xfrm>
            <a:off x="320039" y="175147"/>
            <a:ext cx="7978385" cy="916234"/>
          </a:xfrm>
        </p:spPr>
        <p:txBody>
          <a:bodyPr anchor="ctr">
            <a:normAutofit/>
          </a:bodyPr>
          <a:lstStyle/>
          <a:p>
            <a:r>
              <a:rPr lang="en-US" sz="3600" dirty="0"/>
              <a:t>The Technology Value Stream</a:t>
            </a:r>
          </a:p>
        </p:txBody>
      </p:sp>
      <p:sp>
        <p:nvSpPr>
          <p:cNvPr id="3" name="Subtitle 2">
            <a:extLst>
              <a:ext uri="{FF2B5EF4-FFF2-40B4-BE49-F238E27FC236}">
                <a16:creationId xmlns:a16="http://schemas.microsoft.com/office/drawing/2014/main" id="{0EFB5DA8-5860-D0A6-1DBE-3524EA0A6EB8}"/>
              </a:ext>
            </a:extLst>
          </p:cNvPr>
          <p:cNvSpPr>
            <a:spLocks noGrp="1"/>
          </p:cNvSpPr>
          <p:nvPr>
            <p:ph type="subTitle" idx="1"/>
          </p:nvPr>
        </p:nvSpPr>
        <p:spPr>
          <a:xfrm>
            <a:off x="7640320" y="5462632"/>
            <a:ext cx="5836918" cy="1644316"/>
          </a:xfrm>
        </p:spPr>
        <p:txBody>
          <a:bodyPr anchor="ctr">
            <a:normAutofit/>
          </a:bodyPr>
          <a:lstStyle/>
          <a:p>
            <a:pPr algn="ctr"/>
            <a:r>
              <a:rPr lang="en-US" sz="1800" dirty="0">
                <a:solidFill>
                  <a:schemeClr val="bg1"/>
                </a:solidFill>
              </a:rPr>
              <a:t>Tevyah Hanley</a:t>
            </a:r>
          </a:p>
          <a:p>
            <a:pPr algn="ctr"/>
            <a:r>
              <a:rPr lang="en-US" sz="1800" dirty="0">
                <a:solidFill>
                  <a:schemeClr val="bg1"/>
                </a:solidFill>
              </a:rPr>
              <a:t>DevOps – Sue Sampson</a:t>
            </a:r>
          </a:p>
          <a:p>
            <a:pPr algn="ctr"/>
            <a:r>
              <a:rPr lang="en-US" sz="1800" dirty="0">
                <a:solidFill>
                  <a:schemeClr val="bg1"/>
                </a:solidFill>
              </a:rPr>
              <a:t>1/17/25</a:t>
            </a:r>
          </a:p>
          <a:p>
            <a:pPr algn="ctr"/>
            <a:endParaRPr lang="en-US" sz="1800" dirty="0">
              <a:solidFill>
                <a:schemeClr val="bg1"/>
              </a:solidFill>
            </a:endParaRPr>
          </a:p>
        </p:txBody>
      </p:sp>
    </p:spTree>
    <p:extLst>
      <p:ext uri="{BB962C8B-B14F-4D97-AF65-F5344CB8AC3E}">
        <p14:creationId xmlns:p14="http://schemas.microsoft.com/office/powerpoint/2010/main" val="180312206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145AD-1709-AC65-770B-A9E6D1BB904D}"/>
              </a:ext>
            </a:extLst>
          </p:cNvPr>
          <p:cNvSpPr>
            <a:spLocks noGrp="1"/>
          </p:cNvSpPr>
          <p:nvPr>
            <p:ph type="title"/>
          </p:nvPr>
        </p:nvSpPr>
        <p:spPr/>
        <p:txBody>
          <a:bodyPr/>
          <a:lstStyle/>
          <a:p>
            <a:pPr algn="ctr"/>
            <a:r>
              <a:rPr lang="en-US" dirty="0"/>
              <a:t>What is the Technology Value Stream?</a:t>
            </a:r>
          </a:p>
        </p:txBody>
      </p:sp>
      <p:sp>
        <p:nvSpPr>
          <p:cNvPr id="3" name="Content Placeholder 2">
            <a:extLst>
              <a:ext uri="{FF2B5EF4-FFF2-40B4-BE49-F238E27FC236}">
                <a16:creationId xmlns:a16="http://schemas.microsoft.com/office/drawing/2014/main" id="{06F70373-72DD-C222-6E06-8591B6212D86}"/>
              </a:ext>
            </a:extLst>
          </p:cNvPr>
          <p:cNvSpPr>
            <a:spLocks noGrp="1"/>
          </p:cNvSpPr>
          <p:nvPr>
            <p:ph idx="1"/>
          </p:nvPr>
        </p:nvSpPr>
        <p:spPr>
          <a:xfrm>
            <a:off x="2315210" y="1805432"/>
            <a:ext cx="7561580" cy="3739896"/>
          </a:xfrm>
        </p:spPr>
        <p:txBody>
          <a:bodyPr>
            <a:normAutofit/>
          </a:bodyPr>
          <a:lstStyle/>
          <a:p>
            <a:endParaRPr lang="en-US" dirty="0"/>
          </a:p>
          <a:p>
            <a:pPr marL="0" indent="0" algn="ctr">
              <a:buNone/>
            </a:pPr>
            <a:r>
              <a:rPr lang="en-US" sz="1600" dirty="0"/>
              <a:t>The technology value stream is the process of delivering software, where it starts with a request from your users and is finished once that request is carried out. It makes communication and your end goal very clear, and its main goal is to help improve speed and quality for a great end result. </a:t>
            </a:r>
          </a:p>
          <a:p>
            <a:pPr marL="0" indent="0" algn="ctr">
              <a:buNone/>
            </a:pPr>
            <a:endParaRPr lang="en-US" sz="2400" dirty="0"/>
          </a:p>
        </p:txBody>
      </p:sp>
      <p:pic>
        <p:nvPicPr>
          <p:cNvPr id="5" name="Picture 4" descr="A diagram of a process&#10;&#10;AI-generated content may be incorrect.">
            <a:extLst>
              <a:ext uri="{FF2B5EF4-FFF2-40B4-BE49-F238E27FC236}">
                <a16:creationId xmlns:a16="http://schemas.microsoft.com/office/drawing/2014/main" id="{166E3944-E5BA-BCB7-2A8E-DE20DB542883}"/>
              </a:ext>
            </a:extLst>
          </p:cNvPr>
          <p:cNvPicPr>
            <a:picLocks noChangeAspect="1"/>
          </p:cNvPicPr>
          <p:nvPr/>
        </p:nvPicPr>
        <p:blipFill>
          <a:blip r:embed="rId2"/>
          <a:stretch>
            <a:fillRect/>
          </a:stretch>
        </p:blipFill>
        <p:spPr>
          <a:xfrm>
            <a:off x="3318584" y="3429000"/>
            <a:ext cx="5554831" cy="2692101"/>
          </a:xfrm>
          <a:prstGeom prst="rect">
            <a:avLst/>
          </a:prstGeom>
        </p:spPr>
      </p:pic>
    </p:spTree>
    <p:extLst>
      <p:ext uri="{BB962C8B-B14F-4D97-AF65-F5344CB8AC3E}">
        <p14:creationId xmlns:p14="http://schemas.microsoft.com/office/powerpoint/2010/main" val="3102125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B0912-852E-6F23-75FE-9DC601B27197}"/>
              </a:ext>
            </a:extLst>
          </p:cNvPr>
          <p:cNvSpPr>
            <a:spLocks noGrp="1"/>
          </p:cNvSpPr>
          <p:nvPr>
            <p:ph type="title"/>
          </p:nvPr>
        </p:nvSpPr>
        <p:spPr/>
        <p:txBody>
          <a:bodyPr/>
          <a:lstStyle/>
          <a:p>
            <a:pPr algn="ctr"/>
            <a:r>
              <a:rPr lang="en-US" dirty="0"/>
              <a:t>Lead time vs. Processing Time</a:t>
            </a:r>
          </a:p>
        </p:txBody>
      </p:sp>
      <p:sp>
        <p:nvSpPr>
          <p:cNvPr id="3" name="Content Placeholder 2">
            <a:extLst>
              <a:ext uri="{FF2B5EF4-FFF2-40B4-BE49-F238E27FC236}">
                <a16:creationId xmlns:a16="http://schemas.microsoft.com/office/drawing/2014/main" id="{AD549113-6F0C-B750-48F1-6DCCE9BF8092}"/>
              </a:ext>
            </a:extLst>
          </p:cNvPr>
          <p:cNvSpPr>
            <a:spLocks noGrp="1"/>
          </p:cNvSpPr>
          <p:nvPr>
            <p:ph sz="half" idx="1"/>
          </p:nvPr>
        </p:nvSpPr>
        <p:spPr/>
        <p:txBody>
          <a:bodyPr/>
          <a:lstStyle/>
          <a:p>
            <a:pPr marL="0" indent="0" algn="ctr">
              <a:buNone/>
            </a:pPr>
            <a:r>
              <a:rPr lang="en-US" b="1" dirty="0"/>
              <a:t>Lead Time</a:t>
            </a:r>
          </a:p>
          <a:p>
            <a:pPr marL="0" indent="0" algn="ctr">
              <a:buNone/>
            </a:pPr>
            <a:endParaRPr lang="en-US" b="1" dirty="0"/>
          </a:p>
          <a:p>
            <a:pPr algn="ctr"/>
            <a:r>
              <a:rPr lang="en-US" dirty="0"/>
              <a:t>The amount of time from the users request to the delivery of the product</a:t>
            </a:r>
          </a:p>
          <a:p>
            <a:pPr algn="ctr"/>
            <a:r>
              <a:rPr lang="en-US" dirty="0"/>
              <a:t>Includes all of the time included, meaning any days off or breaks will be included in that time. </a:t>
            </a:r>
          </a:p>
        </p:txBody>
      </p:sp>
      <p:sp>
        <p:nvSpPr>
          <p:cNvPr id="4" name="Content Placeholder 3">
            <a:extLst>
              <a:ext uri="{FF2B5EF4-FFF2-40B4-BE49-F238E27FC236}">
                <a16:creationId xmlns:a16="http://schemas.microsoft.com/office/drawing/2014/main" id="{C4C85393-B50E-07A4-326B-EBA5AE6A492F}"/>
              </a:ext>
            </a:extLst>
          </p:cNvPr>
          <p:cNvSpPr>
            <a:spLocks noGrp="1"/>
          </p:cNvSpPr>
          <p:nvPr>
            <p:ph sz="half" idx="2"/>
          </p:nvPr>
        </p:nvSpPr>
        <p:spPr/>
        <p:txBody>
          <a:bodyPr/>
          <a:lstStyle/>
          <a:p>
            <a:pPr marL="0" indent="0" algn="ctr">
              <a:buNone/>
            </a:pPr>
            <a:r>
              <a:rPr lang="en-US" b="1" dirty="0"/>
              <a:t>Processing Time</a:t>
            </a:r>
          </a:p>
          <a:p>
            <a:pPr marL="0" indent="0" algn="ctr">
              <a:buNone/>
            </a:pPr>
            <a:endParaRPr lang="en-US" b="1" dirty="0"/>
          </a:p>
          <a:p>
            <a:pPr algn="ctr"/>
            <a:r>
              <a:rPr lang="en-US" dirty="0"/>
              <a:t>The amount of time that it takes to build the product</a:t>
            </a:r>
          </a:p>
          <a:p>
            <a:pPr algn="ctr"/>
            <a:r>
              <a:rPr lang="en-US" dirty="0"/>
              <a:t>More focused on the time involved to create, build, and the active time to make the product involved. </a:t>
            </a:r>
          </a:p>
        </p:txBody>
      </p:sp>
    </p:spTree>
    <p:extLst>
      <p:ext uri="{BB962C8B-B14F-4D97-AF65-F5344CB8AC3E}">
        <p14:creationId xmlns:p14="http://schemas.microsoft.com/office/powerpoint/2010/main" val="1911374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25D2E-50C0-A2FA-A654-435638894D08}"/>
              </a:ext>
            </a:extLst>
          </p:cNvPr>
          <p:cNvSpPr>
            <a:spLocks noGrp="1"/>
          </p:cNvSpPr>
          <p:nvPr>
            <p:ph type="title"/>
          </p:nvPr>
        </p:nvSpPr>
        <p:spPr/>
        <p:txBody>
          <a:bodyPr>
            <a:normAutofit fontScale="90000"/>
          </a:bodyPr>
          <a:lstStyle/>
          <a:p>
            <a:pPr algn="ctr"/>
            <a:r>
              <a:rPr lang="en-US" dirty="0"/>
              <a:t>Why month long deployments are common</a:t>
            </a:r>
          </a:p>
        </p:txBody>
      </p:sp>
      <p:sp>
        <p:nvSpPr>
          <p:cNvPr id="3" name="Content Placeholder 2">
            <a:extLst>
              <a:ext uri="{FF2B5EF4-FFF2-40B4-BE49-F238E27FC236}">
                <a16:creationId xmlns:a16="http://schemas.microsoft.com/office/drawing/2014/main" id="{BABED357-01F0-421D-2E6F-E89737703F51}"/>
              </a:ext>
            </a:extLst>
          </p:cNvPr>
          <p:cNvSpPr>
            <a:spLocks noGrp="1"/>
          </p:cNvSpPr>
          <p:nvPr>
            <p:ph idx="1"/>
          </p:nvPr>
        </p:nvSpPr>
        <p:spPr/>
        <p:txBody>
          <a:bodyPr/>
          <a:lstStyle/>
          <a:p>
            <a:pPr marL="0" indent="0" algn="ctr">
              <a:buNone/>
            </a:pPr>
            <a:r>
              <a:rPr lang="en-US" dirty="0"/>
              <a:t>Whenever you are tackling on a project, especially when your user is involved and has a specific vision, it takes time and effort to make a great end result. Brainstorming, the development process, and any obstacles that will inevitably show up at some point will add more to the overall lead time. </a:t>
            </a:r>
          </a:p>
          <a:p>
            <a:pPr marL="0" indent="0" algn="ctr">
              <a:buNone/>
            </a:pPr>
            <a:endParaRPr lang="en-US" dirty="0"/>
          </a:p>
          <a:p>
            <a:pPr marL="0" indent="0" algn="ctr">
              <a:buNone/>
            </a:pPr>
            <a:r>
              <a:rPr lang="en-US" dirty="0"/>
              <a:t>With additional lead time adding to stress on the team, it could sometimes lead to some long deployments. With every code change, there might be hesitancy to push it to the main project. Overall, tiptoe-</a:t>
            </a:r>
            <a:r>
              <a:rPr lang="en-US" dirty="0" err="1"/>
              <a:t>ing</a:t>
            </a:r>
            <a:r>
              <a:rPr lang="en-US" dirty="0"/>
              <a:t> around pushing your deployments will make your customer wait even longer than expected. </a:t>
            </a:r>
          </a:p>
        </p:txBody>
      </p:sp>
    </p:spTree>
    <p:extLst>
      <p:ext uri="{BB962C8B-B14F-4D97-AF65-F5344CB8AC3E}">
        <p14:creationId xmlns:p14="http://schemas.microsoft.com/office/powerpoint/2010/main" val="9505442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A8826-9CC7-1951-6017-D98E259AE297}"/>
              </a:ext>
            </a:extLst>
          </p:cNvPr>
          <p:cNvSpPr>
            <a:spLocks noGrp="1"/>
          </p:cNvSpPr>
          <p:nvPr>
            <p:ph type="title"/>
          </p:nvPr>
        </p:nvSpPr>
        <p:spPr/>
        <p:txBody>
          <a:bodyPr/>
          <a:lstStyle/>
          <a:p>
            <a:pPr algn="ctr"/>
            <a:r>
              <a:rPr lang="en-US" dirty="0"/>
              <a:t>Why deployment in minutes is ideal</a:t>
            </a:r>
          </a:p>
        </p:txBody>
      </p:sp>
      <p:sp>
        <p:nvSpPr>
          <p:cNvPr id="3" name="Content Placeholder 2">
            <a:extLst>
              <a:ext uri="{FF2B5EF4-FFF2-40B4-BE49-F238E27FC236}">
                <a16:creationId xmlns:a16="http://schemas.microsoft.com/office/drawing/2014/main" id="{96D4F8BF-9BB1-B38B-3EF9-56F10C264378}"/>
              </a:ext>
            </a:extLst>
          </p:cNvPr>
          <p:cNvSpPr>
            <a:spLocks noGrp="1"/>
          </p:cNvSpPr>
          <p:nvPr>
            <p:ph idx="1"/>
          </p:nvPr>
        </p:nvSpPr>
        <p:spPr/>
        <p:txBody>
          <a:bodyPr/>
          <a:lstStyle/>
          <a:p>
            <a:pPr marL="0" indent="0" algn="ctr">
              <a:buNone/>
            </a:pPr>
            <a:r>
              <a:rPr lang="en-US" dirty="0"/>
              <a:t>Deployments in minutes are small changes that get pushed immediately, instead of having huge changes all at once. That way, if something breaks or has bugs, you know exactly where it comes from and what to do from it. It provides for quick reaction and updates, and overall gets the process finished way quicker. Speeding up the lead time. </a:t>
            </a:r>
          </a:p>
        </p:txBody>
      </p:sp>
    </p:spTree>
    <p:extLst>
      <p:ext uri="{BB962C8B-B14F-4D97-AF65-F5344CB8AC3E}">
        <p14:creationId xmlns:p14="http://schemas.microsoft.com/office/powerpoint/2010/main" val="5125493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0AF48-D00C-B7D1-160E-D44065835810}"/>
              </a:ext>
            </a:extLst>
          </p:cNvPr>
          <p:cNvSpPr>
            <a:spLocks noGrp="1"/>
          </p:cNvSpPr>
          <p:nvPr>
            <p:ph type="title"/>
          </p:nvPr>
        </p:nvSpPr>
        <p:spPr/>
        <p:txBody>
          <a:bodyPr>
            <a:normAutofit fontScale="90000"/>
          </a:bodyPr>
          <a:lstStyle/>
          <a:p>
            <a:pPr algn="ctr"/>
            <a:r>
              <a:rPr lang="en-US" dirty="0"/>
              <a:t>The Plus sides of having shorter lead times</a:t>
            </a:r>
          </a:p>
        </p:txBody>
      </p:sp>
      <p:sp>
        <p:nvSpPr>
          <p:cNvPr id="3" name="Content Placeholder 2">
            <a:extLst>
              <a:ext uri="{FF2B5EF4-FFF2-40B4-BE49-F238E27FC236}">
                <a16:creationId xmlns:a16="http://schemas.microsoft.com/office/drawing/2014/main" id="{BC334562-5FD8-1E14-C279-19DCE74017BE}"/>
              </a:ext>
            </a:extLst>
          </p:cNvPr>
          <p:cNvSpPr>
            <a:spLocks noGrp="1"/>
          </p:cNvSpPr>
          <p:nvPr>
            <p:ph idx="1"/>
          </p:nvPr>
        </p:nvSpPr>
        <p:spPr/>
        <p:txBody>
          <a:bodyPr/>
          <a:lstStyle/>
          <a:p>
            <a:pPr marL="457200" indent="-457200" algn="ctr">
              <a:buFont typeface="+mj-lt"/>
              <a:buAutoNum type="arabicPeriod"/>
            </a:pPr>
            <a:r>
              <a:rPr lang="en-US" dirty="0"/>
              <a:t>Customers are happier due to faster delivery times</a:t>
            </a:r>
          </a:p>
          <a:p>
            <a:pPr marL="457200" indent="-457200" algn="ctr">
              <a:buFont typeface="+mj-lt"/>
              <a:buAutoNum type="arabicPeriod"/>
            </a:pPr>
            <a:r>
              <a:rPr lang="en-US" dirty="0"/>
              <a:t>Confidence in pushing changes, leading to less stress</a:t>
            </a:r>
          </a:p>
          <a:p>
            <a:pPr marL="457200" indent="-457200" algn="ctr">
              <a:buFont typeface="+mj-lt"/>
              <a:buAutoNum type="arabicPeriod"/>
            </a:pPr>
            <a:r>
              <a:rPr lang="en-US" dirty="0"/>
              <a:t>More testing throughout each change</a:t>
            </a:r>
          </a:p>
          <a:p>
            <a:pPr marL="457200" indent="-457200" algn="ctr">
              <a:buFont typeface="+mj-lt"/>
              <a:buAutoNum type="arabicPeriod"/>
            </a:pPr>
            <a:r>
              <a:rPr lang="en-US" dirty="0"/>
              <a:t>Reduced overall risk</a:t>
            </a:r>
          </a:p>
          <a:p>
            <a:pPr marL="457200" indent="-457200" algn="ctr">
              <a:buFont typeface="+mj-lt"/>
              <a:buAutoNum type="arabicPeriod"/>
            </a:pPr>
            <a:r>
              <a:rPr lang="en-US" dirty="0"/>
              <a:t>Less chances of bugs wiping out entire systems</a:t>
            </a:r>
          </a:p>
        </p:txBody>
      </p:sp>
    </p:spTree>
    <p:extLst>
      <p:ext uri="{BB962C8B-B14F-4D97-AF65-F5344CB8AC3E}">
        <p14:creationId xmlns:p14="http://schemas.microsoft.com/office/powerpoint/2010/main" val="3224698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13B38-656E-BE0F-A0BA-90C2799E928C}"/>
              </a:ext>
            </a:extLst>
          </p:cNvPr>
          <p:cNvSpPr>
            <a:spLocks noGrp="1"/>
          </p:cNvSpPr>
          <p:nvPr>
            <p:ph type="title"/>
          </p:nvPr>
        </p:nvSpPr>
        <p:spPr/>
        <p:txBody>
          <a:bodyPr/>
          <a:lstStyle/>
          <a:p>
            <a:pPr algn="ctr"/>
            <a:r>
              <a:rPr lang="en-US" dirty="0"/>
              <a:t>To wrap up</a:t>
            </a:r>
          </a:p>
        </p:txBody>
      </p:sp>
      <p:sp>
        <p:nvSpPr>
          <p:cNvPr id="3" name="Content Placeholder 2">
            <a:extLst>
              <a:ext uri="{FF2B5EF4-FFF2-40B4-BE49-F238E27FC236}">
                <a16:creationId xmlns:a16="http://schemas.microsoft.com/office/drawing/2014/main" id="{F45FAC85-AFAE-9CEF-11A9-F57B93092FD1}"/>
              </a:ext>
            </a:extLst>
          </p:cNvPr>
          <p:cNvSpPr>
            <a:spLocks noGrp="1"/>
          </p:cNvSpPr>
          <p:nvPr>
            <p:ph idx="1"/>
          </p:nvPr>
        </p:nvSpPr>
        <p:spPr/>
        <p:txBody>
          <a:bodyPr/>
          <a:lstStyle/>
          <a:p>
            <a:pPr algn="ctr"/>
            <a:r>
              <a:rPr lang="en-US" dirty="0"/>
              <a:t>Lead time is the overall time of the project, while processing time is the time spend working on the project.</a:t>
            </a:r>
          </a:p>
          <a:p>
            <a:pPr algn="ctr"/>
            <a:r>
              <a:rPr lang="en-US" dirty="0"/>
              <a:t>Month long deployments are common without an effective plan. </a:t>
            </a:r>
          </a:p>
          <a:p>
            <a:pPr algn="ctr"/>
            <a:r>
              <a:rPr lang="en-US" dirty="0"/>
              <a:t>Deployment in minutes have several upsides, including faster lead time.</a:t>
            </a:r>
          </a:p>
          <a:p>
            <a:pPr algn="ctr"/>
            <a:r>
              <a:rPr lang="en-US" dirty="0"/>
              <a:t>Having less stress on the team, happier customers, and less bugs getting through are just some of the benefits of having deployments in minutes.</a:t>
            </a:r>
          </a:p>
        </p:txBody>
      </p:sp>
    </p:spTree>
    <p:extLst>
      <p:ext uri="{BB962C8B-B14F-4D97-AF65-F5344CB8AC3E}">
        <p14:creationId xmlns:p14="http://schemas.microsoft.com/office/powerpoint/2010/main" val="3515250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DEE8C-DEC7-738E-3790-1309349C1080}"/>
            </a:ext>
          </a:extLst>
        </p:cNvPr>
        <p:cNvGrpSpPr/>
        <p:nvPr/>
      </p:nvGrpSpPr>
      <p:grpSpPr>
        <a:xfrm>
          <a:off x="0" y="0"/>
          <a:ext cx="0" cy="0"/>
          <a:chOff x="0" y="0"/>
          <a:chExt cx="0" cy="0"/>
        </a:xfrm>
      </p:grpSpPr>
      <p:pic>
        <p:nvPicPr>
          <p:cNvPr id="4" name="Picture 3" descr="A web of dots connected">
            <a:extLst>
              <a:ext uri="{FF2B5EF4-FFF2-40B4-BE49-F238E27FC236}">
                <a16:creationId xmlns:a16="http://schemas.microsoft.com/office/drawing/2014/main" id="{5C923B17-51B3-15B0-C8DF-86B6CA4BEE06}"/>
              </a:ext>
            </a:extLst>
          </p:cNvPr>
          <p:cNvPicPr>
            <a:picLocks noChangeAspect="1"/>
          </p:cNvPicPr>
          <p:nvPr/>
        </p:nvPicPr>
        <p:blipFill>
          <a:blip r:embed="rId2"/>
          <a:srcRect l="19109" r="1336" b="1"/>
          <a:stretch>
            <a:fillRect/>
          </a:stretch>
        </p:blipFill>
        <p:spPr>
          <a:xfrm>
            <a:off x="0" y="10"/>
            <a:ext cx="12191979" cy="6857990"/>
          </a:xfrm>
          <a:prstGeom prst="rect">
            <a:avLst/>
          </a:prstGeom>
        </p:spPr>
      </p:pic>
      <p:sp>
        <p:nvSpPr>
          <p:cNvPr id="2" name="Title 1">
            <a:extLst>
              <a:ext uri="{FF2B5EF4-FFF2-40B4-BE49-F238E27FC236}">
                <a16:creationId xmlns:a16="http://schemas.microsoft.com/office/drawing/2014/main" id="{3B19DDF1-4933-BFBD-5743-99E88E404528}"/>
              </a:ext>
            </a:extLst>
          </p:cNvPr>
          <p:cNvSpPr>
            <a:spLocks noGrp="1"/>
          </p:cNvSpPr>
          <p:nvPr>
            <p:ph type="ctrTitle"/>
          </p:nvPr>
        </p:nvSpPr>
        <p:spPr>
          <a:xfrm>
            <a:off x="1165859" y="2205933"/>
            <a:ext cx="9860281" cy="2446133"/>
          </a:xfrm>
        </p:spPr>
        <p:txBody>
          <a:bodyPr anchor="ctr">
            <a:normAutofit/>
          </a:bodyPr>
          <a:lstStyle/>
          <a:p>
            <a:pPr algn="ctr"/>
            <a:r>
              <a:rPr lang="en-US" sz="7200" dirty="0"/>
              <a:t>Thank you!</a:t>
            </a:r>
          </a:p>
        </p:txBody>
      </p:sp>
      <p:sp>
        <p:nvSpPr>
          <p:cNvPr id="3" name="Subtitle 2">
            <a:extLst>
              <a:ext uri="{FF2B5EF4-FFF2-40B4-BE49-F238E27FC236}">
                <a16:creationId xmlns:a16="http://schemas.microsoft.com/office/drawing/2014/main" id="{D33E4828-AADA-1274-CC1C-E20730EB8CEB}"/>
              </a:ext>
            </a:extLst>
          </p:cNvPr>
          <p:cNvSpPr>
            <a:spLocks noGrp="1"/>
          </p:cNvSpPr>
          <p:nvPr>
            <p:ph type="subTitle" idx="1"/>
          </p:nvPr>
        </p:nvSpPr>
        <p:spPr>
          <a:xfrm>
            <a:off x="7640320" y="5462632"/>
            <a:ext cx="5836918" cy="1644316"/>
          </a:xfrm>
        </p:spPr>
        <p:txBody>
          <a:bodyPr anchor="ctr">
            <a:normAutofit/>
          </a:bodyPr>
          <a:lstStyle/>
          <a:p>
            <a:pPr algn="ctr"/>
            <a:r>
              <a:rPr lang="en-US" sz="1800" dirty="0">
                <a:solidFill>
                  <a:schemeClr val="bg1"/>
                </a:solidFill>
              </a:rPr>
              <a:t>Tevyah Hanley</a:t>
            </a:r>
          </a:p>
          <a:p>
            <a:pPr algn="ctr"/>
            <a:r>
              <a:rPr lang="en-US" sz="1800" dirty="0">
                <a:solidFill>
                  <a:schemeClr val="bg1"/>
                </a:solidFill>
              </a:rPr>
              <a:t>DevOps – Sue Sampson</a:t>
            </a:r>
          </a:p>
          <a:p>
            <a:pPr algn="ctr"/>
            <a:r>
              <a:rPr lang="en-US" sz="1800" dirty="0">
                <a:solidFill>
                  <a:schemeClr val="bg1"/>
                </a:solidFill>
              </a:rPr>
              <a:t>1/17/25</a:t>
            </a:r>
          </a:p>
          <a:p>
            <a:pPr algn="ctr"/>
            <a:endParaRPr lang="en-US" sz="1800" dirty="0">
              <a:solidFill>
                <a:schemeClr val="bg1"/>
              </a:solidFill>
            </a:endParaRPr>
          </a:p>
        </p:txBody>
      </p:sp>
    </p:spTree>
    <p:extLst>
      <p:ext uri="{BB962C8B-B14F-4D97-AF65-F5344CB8AC3E}">
        <p14:creationId xmlns:p14="http://schemas.microsoft.com/office/powerpoint/2010/main" val="3748327762"/>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155</TotalTime>
  <Words>467</Words>
  <Application>Microsoft Macintosh PowerPoint</Application>
  <PresentationFormat>Widescreen</PresentationFormat>
  <Paragraphs>37</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Calisto MT</vt:lpstr>
      <vt:lpstr>Univers Condensed</vt:lpstr>
      <vt:lpstr>ChronicleVTI</vt:lpstr>
      <vt:lpstr>The Technology Value Stream</vt:lpstr>
      <vt:lpstr>What is the Technology Value Stream?</vt:lpstr>
      <vt:lpstr>Lead time vs. Processing Time</vt:lpstr>
      <vt:lpstr>Why month long deployments are common</vt:lpstr>
      <vt:lpstr>Why deployment in minutes is ideal</vt:lpstr>
      <vt:lpstr>The Plus sides of having shorter lead times</vt:lpstr>
      <vt:lpstr>To wrap up</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Tevyah Hanley</dc:creator>
  <cp:lastModifiedBy>Tevyah Hanley</cp:lastModifiedBy>
  <cp:revision>1</cp:revision>
  <dcterms:created xsi:type="dcterms:W3CDTF">2026-01-17T23:50:22Z</dcterms:created>
  <dcterms:modified xsi:type="dcterms:W3CDTF">2026-01-18T02:25:42Z</dcterms:modified>
</cp:coreProperties>
</file>