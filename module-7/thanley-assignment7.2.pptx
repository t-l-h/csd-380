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7"/>
    <p:restoredTop sz="94690"/>
  </p:normalViewPr>
  <p:slideViewPr>
    <p:cSldViewPr snapToGrid="0">
      <p:cViewPr varScale="1">
        <p:scale>
          <a:sx n="119" d="100"/>
          <a:sy n="119" d="100"/>
        </p:scale>
        <p:origin x="4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2D78D2-D851-C242-97A6-6AFE0906F6B7}"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4D3EF131-6DFE-CC44-80D4-A06FF2B95728}" type="slidenum">
              <a:rPr lang="en-US" smtClean="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367690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2D78D2-D851-C242-97A6-6AFE0906F6B7}"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EF131-6DFE-CC44-80D4-A06FF2B95728}" type="slidenum">
              <a:rPr lang="en-US" smtClean="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279052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2D78D2-D851-C242-97A6-6AFE0906F6B7}"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EF131-6DFE-CC44-80D4-A06FF2B95728}" type="slidenum">
              <a:rPr lang="en-US" smtClean="0"/>
              <a:t>‹#›</a:t>
            </a:fld>
            <a:endParaRPr lang="en-US"/>
          </a:p>
        </p:txBody>
      </p:sp>
    </p:spTree>
    <p:extLst>
      <p:ext uri="{BB962C8B-B14F-4D97-AF65-F5344CB8AC3E}">
        <p14:creationId xmlns:p14="http://schemas.microsoft.com/office/powerpoint/2010/main" val="185627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2D78D2-D851-C242-97A6-6AFE0906F6B7}"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EF131-6DFE-CC44-80D4-A06FF2B95728}" type="slidenum">
              <a:rPr lang="en-US" smtClean="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214056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2D78D2-D851-C242-97A6-6AFE0906F6B7}" type="datetimeFigureOut">
              <a:rPr lang="en-US" smtClean="0"/>
              <a:t>2/16/26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3EF131-6DFE-CC44-80D4-A06FF2B95728}" type="slidenum">
              <a:rPr lang="en-US" smtClean="0"/>
              <a:t>‹#›</a:t>
            </a:fld>
            <a:endParaRPr lang="en-US"/>
          </a:p>
        </p:txBody>
      </p:sp>
    </p:spTree>
    <p:extLst>
      <p:ext uri="{BB962C8B-B14F-4D97-AF65-F5344CB8AC3E}">
        <p14:creationId xmlns:p14="http://schemas.microsoft.com/office/powerpoint/2010/main" val="1605244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2D78D2-D851-C242-97A6-6AFE0906F6B7}" type="datetimeFigureOut">
              <a:rPr lang="en-US" smtClean="0"/>
              <a:t>2/16/26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3EF131-6DFE-CC44-80D4-A06FF2B95728}" type="slidenum">
              <a:rPr lang="en-US" smtClean="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544286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FB2D78D2-D851-C242-97A6-6AFE0906F6B7}" type="datetimeFigureOut">
              <a:rPr lang="en-US" smtClean="0"/>
              <a:t>2/16/26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3EF131-6DFE-CC44-80D4-A06FF2B95728}" type="slidenum">
              <a:rPr lang="en-US" smtClean="0"/>
              <a:t>‹#›</a:t>
            </a:fld>
            <a:endParaRPr lang="en-US"/>
          </a:p>
        </p:txBody>
      </p:sp>
    </p:spTree>
    <p:extLst>
      <p:ext uri="{BB962C8B-B14F-4D97-AF65-F5344CB8AC3E}">
        <p14:creationId xmlns:p14="http://schemas.microsoft.com/office/powerpoint/2010/main" val="1383544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2D78D2-D851-C242-97A6-6AFE0906F6B7}"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EF131-6DFE-CC44-80D4-A06FF2B95728}" type="slidenum">
              <a:rPr lang="en-US" smtClean="0"/>
              <a:t>‹#›</a:t>
            </a:fld>
            <a:endParaRPr lang="en-US"/>
          </a:p>
        </p:txBody>
      </p:sp>
    </p:spTree>
    <p:extLst>
      <p:ext uri="{BB962C8B-B14F-4D97-AF65-F5344CB8AC3E}">
        <p14:creationId xmlns:p14="http://schemas.microsoft.com/office/powerpoint/2010/main" val="3866991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2D78D2-D851-C242-97A6-6AFE0906F6B7}"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EF131-6DFE-CC44-80D4-A06FF2B95728}" type="slidenum">
              <a:rPr lang="en-US" smtClean="0"/>
              <a:t>‹#›</a:t>
            </a:fld>
            <a:endParaRPr lang="en-US"/>
          </a:p>
        </p:txBody>
      </p:sp>
    </p:spTree>
    <p:extLst>
      <p:ext uri="{BB962C8B-B14F-4D97-AF65-F5344CB8AC3E}">
        <p14:creationId xmlns:p14="http://schemas.microsoft.com/office/powerpoint/2010/main" val="3789362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2D78D2-D851-C242-97A6-6AFE0906F6B7}"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EF131-6DFE-CC44-80D4-A06FF2B95728}" type="slidenum">
              <a:rPr lang="en-US" smtClean="0"/>
              <a:t>‹#›</a:t>
            </a:fld>
            <a:endParaRPr lang="en-US"/>
          </a:p>
        </p:txBody>
      </p:sp>
    </p:spTree>
    <p:extLst>
      <p:ext uri="{BB962C8B-B14F-4D97-AF65-F5344CB8AC3E}">
        <p14:creationId xmlns:p14="http://schemas.microsoft.com/office/powerpoint/2010/main" val="3176969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2D78D2-D851-C242-97A6-6AFE0906F6B7}"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EF131-6DFE-CC44-80D4-A06FF2B95728}" type="slidenum">
              <a:rPr lang="en-US" smtClean="0"/>
              <a:t>‹#›</a:t>
            </a:fld>
            <a:endParaRPr lang="en-US"/>
          </a:p>
        </p:txBody>
      </p:sp>
    </p:spTree>
    <p:extLst>
      <p:ext uri="{BB962C8B-B14F-4D97-AF65-F5344CB8AC3E}">
        <p14:creationId xmlns:p14="http://schemas.microsoft.com/office/powerpoint/2010/main" val="3747145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FB2D78D2-D851-C242-97A6-6AFE0906F6B7}" type="datetimeFigureOut">
              <a:rPr lang="en-US" smtClean="0"/>
              <a:t>2/16/26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4D3EF131-6DFE-CC44-80D4-A06FF2B95728}" type="slidenum">
              <a:rPr lang="en-US" smtClean="0"/>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934266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sre.google/sre-book/being-on-call/" TargetMode="External"/><Relationship Id="rId2" Type="http://schemas.openxmlformats.org/officeDocument/2006/relationships/hyperlink" Target="https://www.pagerduty.com/resources/incident-management-response/learn/call-rotations-schedule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6383D-65D0-6506-ED7C-443897F758F8}"/>
              </a:ext>
            </a:extLst>
          </p:cNvPr>
          <p:cNvSpPr>
            <a:spLocks noGrp="1"/>
          </p:cNvSpPr>
          <p:nvPr>
            <p:ph type="ctrTitle"/>
          </p:nvPr>
        </p:nvSpPr>
        <p:spPr/>
        <p:txBody>
          <a:bodyPr>
            <a:normAutofit fontScale="90000"/>
          </a:bodyPr>
          <a:lstStyle/>
          <a:p>
            <a:r>
              <a:rPr lang="en-US" dirty="0"/>
              <a:t>Pager Rotation Duties in DevOps</a:t>
            </a:r>
          </a:p>
        </p:txBody>
      </p:sp>
      <p:sp>
        <p:nvSpPr>
          <p:cNvPr id="3" name="Subtitle 2">
            <a:extLst>
              <a:ext uri="{FF2B5EF4-FFF2-40B4-BE49-F238E27FC236}">
                <a16:creationId xmlns:a16="http://schemas.microsoft.com/office/drawing/2014/main" id="{93FB7993-BF21-B50C-13FC-E3778EE0E724}"/>
              </a:ext>
            </a:extLst>
          </p:cNvPr>
          <p:cNvSpPr>
            <a:spLocks noGrp="1"/>
          </p:cNvSpPr>
          <p:nvPr>
            <p:ph type="subTitle" idx="1"/>
          </p:nvPr>
        </p:nvSpPr>
        <p:spPr/>
        <p:txBody>
          <a:bodyPr/>
          <a:lstStyle/>
          <a:p>
            <a:r>
              <a:rPr lang="en-US" dirty="0"/>
              <a:t>Tevyah Hanley | 2/16/26 | CSD-380 Sue Sampson</a:t>
            </a:r>
          </a:p>
        </p:txBody>
      </p:sp>
    </p:spTree>
    <p:extLst>
      <p:ext uri="{BB962C8B-B14F-4D97-AF65-F5344CB8AC3E}">
        <p14:creationId xmlns:p14="http://schemas.microsoft.com/office/powerpoint/2010/main" val="1502156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7016B-558F-2635-7716-EDA362E58390}"/>
              </a:ext>
            </a:extLst>
          </p:cNvPr>
          <p:cNvSpPr>
            <a:spLocks noGrp="1"/>
          </p:cNvSpPr>
          <p:nvPr>
            <p:ph type="title"/>
          </p:nvPr>
        </p:nvSpPr>
        <p:spPr/>
        <p:txBody>
          <a:bodyPr/>
          <a:lstStyle/>
          <a:p>
            <a:r>
              <a:rPr lang="en-US" dirty="0"/>
              <a:t>What Is Pager Rotation?</a:t>
            </a:r>
          </a:p>
        </p:txBody>
      </p:sp>
      <p:sp>
        <p:nvSpPr>
          <p:cNvPr id="3" name="Content Placeholder 2">
            <a:extLst>
              <a:ext uri="{FF2B5EF4-FFF2-40B4-BE49-F238E27FC236}">
                <a16:creationId xmlns:a16="http://schemas.microsoft.com/office/drawing/2014/main" id="{6F5287CC-DD82-E7B5-E79B-EFB04019A855}"/>
              </a:ext>
            </a:extLst>
          </p:cNvPr>
          <p:cNvSpPr>
            <a:spLocks noGrp="1"/>
          </p:cNvSpPr>
          <p:nvPr>
            <p:ph idx="1"/>
          </p:nvPr>
        </p:nvSpPr>
        <p:spPr/>
        <p:txBody>
          <a:bodyPr>
            <a:normAutofit/>
          </a:bodyPr>
          <a:lstStyle/>
          <a:p>
            <a:pPr marL="0" indent="0">
              <a:buNone/>
            </a:pPr>
            <a:endParaRPr lang="en-US" dirty="0"/>
          </a:p>
          <a:p>
            <a:r>
              <a:rPr lang="en-US" dirty="0"/>
              <a:t>Pager rotation is where you have a on call schedule with your team where your engineers take turns responding to different alerts and incidents, even outside of work hours. This is typically called “pager duty’ and it makes sure that your site is being looked at in case something goes wrong around the clock. </a:t>
            </a:r>
          </a:p>
        </p:txBody>
      </p:sp>
    </p:spTree>
    <p:extLst>
      <p:ext uri="{BB962C8B-B14F-4D97-AF65-F5344CB8AC3E}">
        <p14:creationId xmlns:p14="http://schemas.microsoft.com/office/powerpoint/2010/main" val="2863930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4CC09-2318-B374-F995-C3D68E3C5951}"/>
              </a:ext>
            </a:extLst>
          </p:cNvPr>
          <p:cNvSpPr>
            <a:spLocks noGrp="1"/>
          </p:cNvSpPr>
          <p:nvPr>
            <p:ph type="title"/>
          </p:nvPr>
        </p:nvSpPr>
        <p:spPr/>
        <p:txBody>
          <a:bodyPr/>
          <a:lstStyle/>
          <a:p>
            <a:r>
              <a:rPr lang="en-US" dirty="0"/>
              <a:t>Why Pager Duties Matter in DevOps</a:t>
            </a:r>
          </a:p>
        </p:txBody>
      </p:sp>
      <p:sp>
        <p:nvSpPr>
          <p:cNvPr id="3" name="Content Placeholder 2">
            <a:extLst>
              <a:ext uri="{FF2B5EF4-FFF2-40B4-BE49-F238E27FC236}">
                <a16:creationId xmlns:a16="http://schemas.microsoft.com/office/drawing/2014/main" id="{F72DD575-CB40-CB5C-874A-2B0E2781AC00}"/>
              </a:ext>
            </a:extLst>
          </p:cNvPr>
          <p:cNvSpPr>
            <a:spLocks noGrp="1"/>
          </p:cNvSpPr>
          <p:nvPr>
            <p:ph idx="1"/>
          </p:nvPr>
        </p:nvSpPr>
        <p:spPr/>
        <p:txBody>
          <a:bodyPr>
            <a:normAutofit/>
          </a:bodyPr>
          <a:lstStyle/>
          <a:p>
            <a:pPr marL="0" indent="0">
              <a:buNone/>
            </a:pPr>
            <a:r>
              <a:rPr lang="en-US" dirty="0"/>
              <a:t>Having Pager duty set in place with your team is super important because something might go down that needs immediate attention. With Pager duty in place, it helps your users know that issues will be resolved quickly. </a:t>
            </a:r>
          </a:p>
        </p:txBody>
      </p:sp>
    </p:spTree>
    <p:extLst>
      <p:ext uri="{BB962C8B-B14F-4D97-AF65-F5344CB8AC3E}">
        <p14:creationId xmlns:p14="http://schemas.microsoft.com/office/powerpoint/2010/main" val="1373486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3A21-FF17-D2D6-41C0-D926FAF368EB}"/>
              </a:ext>
            </a:extLst>
          </p:cNvPr>
          <p:cNvSpPr>
            <a:spLocks noGrp="1"/>
          </p:cNvSpPr>
          <p:nvPr>
            <p:ph type="title"/>
          </p:nvPr>
        </p:nvSpPr>
        <p:spPr/>
        <p:txBody>
          <a:bodyPr/>
          <a:lstStyle/>
          <a:p>
            <a:r>
              <a:rPr lang="en-US" dirty="0"/>
              <a:t>Make Schedules Fair to Prevent Burnout</a:t>
            </a:r>
          </a:p>
        </p:txBody>
      </p:sp>
      <p:sp>
        <p:nvSpPr>
          <p:cNvPr id="3" name="Content Placeholder 2">
            <a:extLst>
              <a:ext uri="{FF2B5EF4-FFF2-40B4-BE49-F238E27FC236}">
                <a16:creationId xmlns:a16="http://schemas.microsoft.com/office/drawing/2014/main" id="{475D0DB0-659D-288E-EFAA-C9BD69789F94}"/>
              </a:ext>
            </a:extLst>
          </p:cNvPr>
          <p:cNvSpPr>
            <a:spLocks noGrp="1"/>
          </p:cNvSpPr>
          <p:nvPr>
            <p:ph idx="1"/>
          </p:nvPr>
        </p:nvSpPr>
        <p:spPr/>
        <p:txBody>
          <a:bodyPr>
            <a:normAutofit/>
          </a:bodyPr>
          <a:lstStyle/>
          <a:p>
            <a:pPr marL="0" indent="0">
              <a:buNone/>
            </a:pPr>
            <a:r>
              <a:rPr lang="en-US" dirty="0"/>
              <a:t>Arguably the most important practice for pager duty is making a rotation that is fair and doesn’t burnout your team. Companies typically do a 1 week rotation, where you work 1 week out of three, to make sure that you are fair to your team. </a:t>
            </a:r>
          </a:p>
        </p:txBody>
      </p:sp>
    </p:spTree>
    <p:extLst>
      <p:ext uri="{BB962C8B-B14F-4D97-AF65-F5344CB8AC3E}">
        <p14:creationId xmlns:p14="http://schemas.microsoft.com/office/powerpoint/2010/main" val="487622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56B64-9102-ED63-164C-33C3077F9A25}"/>
              </a:ext>
            </a:extLst>
          </p:cNvPr>
          <p:cNvSpPr>
            <a:spLocks noGrp="1"/>
          </p:cNvSpPr>
          <p:nvPr>
            <p:ph type="title"/>
          </p:nvPr>
        </p:nvSpPr>
        <p:spPr/>
        <p:txBody>
          <a:bodyPr/>
          <a:lstStyle/>
          <a:p>
            <a:r>
              <a:rPr lang="en-US" dirty="0"/>
              <a:t>Escalation Policies and Clear Roles</a:t>
            </a:r>
          </a:p>
        </p:txBody>
      </p:sp>
      <p:sp>
        <p:nvSpPr>
          <p:cNvPr id="3" name="Content Placeholder 2">
            <a:extLst>
              <a:ext uri="{FF2B5EF4-FFF2-40B4-BE49-F238E27FC236}">
                <a16:creationId xmlns:a16="http://schemas.microsoft.com/office/drawing/2014/main" id="{8D5DCB58-308D-4EB0-673F-A2747D93B6F4}"/>
              </a:ext>
            </a:extLst>
          </p:cNvPr>
          <p:cNvSpPr>
            <a:spLocks noGrp="1"/>
          </p:cNvSpPr>
          <p:nvPr>
            <p:ph idx="1"/>
          </p:nvPr>
        </p:nvSpPr>
        <p:spPr/>
        <p:txBody>
          <a:bodyPr>
            <a:normAutofit/>
          </a:bodyPr>
          <a:lstStyle/>
          <a:p>
            <a:pPr marL="0" indent="0">
              <a:buNone/>
            </a:pPr>
            <a:r>
              <a:rPr lang="en-US" dirty="0"/>
              <a:t>When you are “on call” it shouldn’t mean that you have to handle everything. Instead, there should be ways to escalate the problem in case your team is given a problem that is above their head in terms of expertise. Typically, there are 3 tiers of escalation, meaning that the higher the issue goes, there is more focus on that specific issue compared to all issues going to the one with the most expertise. </a:t>
            </a:r>
          </a:p>
        </p:txBody>
      </p:sp>
    </p:spTree>
    <p:extLst>
      <p:ext uri="{BB962C8B-B14F-4D97-AF65-F5344CB8AC3E}">
        <p14:creationId xmlns:p14="http://schemas.microsoft.com/office/powerpoint/2010/main" val="4100304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D24A2-9F94-D21B-19E5-9FD7E8EB88E3}"/>
              </a:ext>
            </a:extLst>
          </p:cNvPr>
          <p:cNvSpPr>
            <a:spLocks noGrp="1"/>
          </p:cNvSpPr>
          <p:nvPr>
            <p:ph type="title"/>
          </p:nvPr>
        </p:nvSpPr>
        <p:spPr/>
        <p:txBody>
          <a:bodyPr/>
          <a:lstStyle/>
          <a:p>
            <a:r>
              <a:rPr lang="en-US" dirty="0"/>
              <a:t>Runbooks, Automation, and Alert Quality</a:t>
            </a:r>
          </a:p>
        </p:txBody>
      </p:sp>
      <p:sp>
        <p:nvSpPr>
          <p:cNvPr id="3" name="Content Placeholder 2">
            <a:extLst>
              <a:ext uri="{FF2B5EF4-FFF2-40B4-BE49-F238E27FC236}">
                <a16:creationId xmlns:a16="http://schemas.microsoft.com/office/drawing/2014/main" id="{1B06F076-DF2F-1447-F0A2-73C4B9B11B25}"/>
              </a:ext>
            </a:extLst>
          </p:cNvPr>
          <p:cNvSpPr>
            <a:spLocks noGrp="1"/>
          </p:cNvSpPr>
          <p:nvPr>
            <p:ph idx="1"/>
          </p:nvPr>
        </p:nvSpPr>
        <p:spPr/>
        <p:txBody>
          <a:bodyPr>
            <a:normAutofit/>
          </a:bodyPr>
          <a:lstStyle/>
          <a:p>
            <a:pPr marL="0" indent="0">
              <a:buNone/>
            </a:pPr>
            <a:r>
              <a:rPr lang="en-US" dirty="0"/>
              <a:t>The best DevOps teams make sure to reduce any overflowing of alerts by tuning them to only show the most important ones and flagging those to your team. Alerts should have more emphasis based on how it is directly impacting your project or your users. Making dashboards or paging certain teams on only major incidents are a good way to handle these, that way there are ways to track, or look at the alert without ignoring it as often.</a:t>
            </a:r>
          </a:p>
        </p:txBody>
      </p:sp>
    </p:spTree>
    <p:extLst>
      <p:ext uri="{BB962C8B-B14F-4D97-AF65-F5344CB8AC3E}">
        <p14:creationId xmlns:p14="http://schemas.microsoft.com/office/powerpoint/2010/main" val="3503864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62300-F9AD-F525-943A-200DE94FA89A}"/>
              </a:ext>
            </a:extLst>
          </p:cNvPr>
          <p:cNvSpPr>
            <a:spLocks noGrp="1"/>
          </p:cNvSpPr>
          <p:nvPr>
            <p:ph type="title"/>
          </p:nvPr>
        </p:nvSpPr>
        <p:spPr/>
        <p:txBody>
          <a:bodyPr/>
          <a:lstStyle/>
          <a:p>
            <a:r>
              <a:rPr lang="en-US" dirty="0"/>
              <a:t>Summary </a:t>
            </a:r>
          </a:p>
        </p:txBody>
      </p:sp>
      <p:sp>
        <p:nvSpPr>
          <p:cNvPr id="3" name="Content Placeholder 2">
            <a:extLst>
              <a:ext uri="{FF2B5EF4-FFF2-40B4-BE49-F238E27FC236}">
                <a16:creationId xmlns:a16="http://schemas.microsoft.com/office/drawing/2014/main" id="{F50C585A-50AC-EF11-781D-9DD6295286AC}"/>
              </a:ext>
            </a:extLst>
          </p:cNvPr>
          <p:cNvSpPr>
            <a:spLocks noGrp="1"/>
          </p:cNvSpPr>
          <p:nvPr>
            <p:ph idx="1"/>
          </p:nvPr>
        </p:nvSpPr>
        <p:spPr/>
        <p:txBody>
          <a:bodyPr>
            <a:normAutofit/>
          </a:bodyPr>
          <a:lstStyle/>
          <a:p>
            <a:pPr marL="0" indent="0">
              <a:buNone/>
            </a:pPr>
            <a:r>
              <a:rPr lang="en-US" dirty="0"/>
              <a:t>Pager rotation is a really important thing to implement to your </a:t>
            </a:r>
            <a:r>
              <a:rPr lang="en-US" dirty="0" err="1"/>
              <a:t>devops</a:t>
            </a:r>
            <a:r>
              <a:rPr lang="en-US" dirty="0"/>
              <a:t> team because it means that your project is getting around the clock care, and a faster response to major issues. Make sure that your schedules are fair, that there are proper escalation tiers in place, and to make sure your alert system in well managed and handled. </a:t>
            </a:r>
          </a:p>
        </p:txBody>
      </p:sp>
    </p:spTree>
    <p:extLst>
      <p:ext uri="{BB962C8B-B14F-4D97-AF65-F5344CB8AC3E}">
        <p14:creationId xmlns:p14="http://schemas.microsoft.com/office/powerpoint/2010/main" val="2263976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B1202-66D4-97C8-1198-2D79E95C7983}"/>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7E451210-DD8B-9844-D304-25076E7F0243}"/>
              </a:ext>
            </a:extLst>
          </p:cNvPr>
          <p:cNvSpPr>
            <a:spLocks noGrp="1"/>
          </p:cNvSpPr>
          <p:nvPr>
            <p:ph idx="1"/>
          </p:nvPr>
        </p:nvSpPr>
        <p:spPr/>
        <p:txBody>
          <a:bodyPr/>
          <a:lstStyle/>
          <a:p>
            <a:r>
              <a:rPr lang="en-US" dirty="0">
                <a:hlinkClick r:id="rId2"/>
              </a:rPr>
              <a:t>https://www.pagerduty.com/resources/incident-management-response/learn/call-rotations-schedules/</a:t>
            </a:r>
            <a:endParaRPr lang="en-US" dirty="0"/>
          </a:p>
          <a:p>
            <a:r>
              <a:rPr lang="en-US" dirty="0">
                <a:hlinkClick r:id="rId3"/>
              </a:rPr>
              <a:t>https://sre.google/sre-book/being-on-call/</a:t>
            </a:r>
            <a:endParaRPr lang="en-US" dirty="0"/>
          </a:p>
          <a:p>
            <a:pPr marL="0" indent="0">
              <a:buNone/>
            </a:pPr>
            <a:endParaRPr lang="en-US" dirty="0"/>
          </a:p>
        </p:txBody>
      </p:sp>
    </p:spTree>
    <p:extLst>
      <p:ext uri="{BB962C8B-B14F-4D97-AF65-F5344CB8AC3E}">
        <p14:creationId xmlns:p14="http://schemas.microsoft.com/office/powerpoint/2010/main" val="2530872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04ACC-6268-A780-7FCC-3E4834515E7F}"/>
              </a:ext>
            </a:extLst>
          </p:cNvPr>
          <p:cNvSpPr>
            <a:spLocks noGrp="1"/>
          </p:cNvSpPr>
          <p:nvPr>
            <p:ph type="ctrTitle"/>
          </p:nvPr>
        </p:nvSpPr>
        <p:spPr/>
        <p:txBody>
          <a:bodyPr/>
          <a:lstStyle/>
          <a:p>
            <a:r>
              <a:rPr lang="en-US"/>
              <a:t>Thank you!</a:t>
            </a:r>
          </a:p>
        </p:txBody>
      </p:sp>
      <p:sp>
        <p:nvSpPr>
          <p:cNvPr id="3" name="Subtitle 2">
            <a:extLst>
              <a:ext uri="{FF2B5EF4-FFF2-40B4-BE49-F238E27FC236}">
                <a16:creationId xmlns:a16="http://schemas.microsoft.com/office/drawing/2014/main" id="{6A826B13-2D2B-F9FE-D111-57761E82092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790346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Madison</Template>
  <TotalTime>24</TotalTime>
  <Words>452</Words>
  <Application>Microsoft Macintosh PowerPoint</Application>
  <PresentationFormat>Widescreen</PresentationFormat>
  <Paragraphs>19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MS Shell Dlg 2</vt:lpstr>
      <vt:lpstr>Wingdings</vt:lpstr>
      <vt:lpstr>Wingdings 3</vt:lpstr>
      <vt:lpstr>Madison</vt:lpstr>
      <vt:lpstr>Pager Rotation Duties in DevOps</vt:lpstr>
      <vt:lpstr>What Is Pager Rotation?</vt:lpstr>
      <vt:lpstr>Why Pager Duties Matter in DevOps</vt:lpstr>
      <vt:lpstr>Make Schedules Fair to Prevent Burnout</vt:lpstr>
      <vt:lpstr>Escalation Policies and Clear Roles</vt:lpstr>
      <vt:lpstr>Runbooks, Automation, and Alert Quality</vt:lpstr>
      <vt:lpstr>Summary </vt:lpstr>
      <vt:lpstr>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Tevyah Hanley</dc:creator>
  <cp:lastModifiedBy>Tevyah Hanley</cp:lastModifiedBy>
  <cp:revision>2</cp:revision>
  <dcterms:created xsi:type="dcterms:W3CDTF">2026-02-06T18:10:22Z</dcterms:created>
  <dcterms:modified xsi:type="dcterms:W3CDTF">2026-02-16T18:08:03Z</dcterms:modified>
</cp:coreProperties>
</file>