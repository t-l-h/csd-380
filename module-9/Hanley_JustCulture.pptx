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68"/>
  </p:normalViewPr>
  <p:slideViewPr>
    <p:cSldViewPr snapToGrid="0">
      <p:cViewPr varScale="1">
        <p:scale>
          <a:sx n="119" d="100"/>
          <a:sy n="119"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AE3425CA-4B9D-4420-BB9E-C250DB30E421}" type="datetime1">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11769002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51E1E-C50D-4FD4-8B1E-ECD78340D9AB}" type="datetime1">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548835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3C83AFB-9E54-459E-8C6D-0913AC3BA5D7}" type="datetime1">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413838818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F10144B6-0CA7-46BA-A00B-1E68E5C3ED0C}" type="datetime1">
              <a:rPr lang="en-US" smtClean="0"/>
              <a:t>2/23/26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073045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EF7C3A7-D6F6-4D38-A7C3-B72967BB81A6}" type="datetime1">
              <a:rPr lang="en-US" smtClean="0"/>
              <a:t>2/23/26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86042B-6341-4E38-A80C-926D3BB8AAC9}"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966873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2F8D56-3D0E-48B8-8218-1F3A06A96C62}" type="datetime1">
              <a:rPr lang="en-US" smtClean="0"/>
              <a:t>2/23/26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363724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EC309E-27D4-401F-A74A-DEA16C7B51DC}" type="datetime1">
              <a:rPr lang="en-US" smtClean="0"/>
              <a:t>2/23/26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189690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6DEA2B81-2BC3-42D7-B67D-05C685AA80AD}" type="datetime1">
              <a:rPr lang="en-US" smtClean="0"/>
              <a:t>2/23/26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1528171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F0DB8F2B-E487-4905-B553-FB649F2B6F23}" type="datetime1">
              <a:rPr lang="en-US" smtClean="0"/>
              <a:t>2/23/26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58634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14B861-3779-4E37-8DF0-E9EB3EA96210}" type="datetime1">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2272189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E38388-E864-4553-9937-AE9FC5E50CFC}" type="datetime1">
              <a:rPr lang="en-US" smtClean="0"/>
              <a:t>2/23/26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86042B-6341-4E38-A80C-926D3BB8AAC9}" type="slidenum">
              <a:rPr lang="en-US" smtClean="0"/>
              <a:t>‹#›</a:t>
            </a:fld>
            <a:endParaRPr lang="en-US"/>
          </a:p>
        </p:txBody>
      </p:sp>
    </p:spTree>
    <p:extLst>
      <p:ext uri="{BB962C8B-B14F-4D97-AF65-F5344CB8AC3E}">
        <p14:creationId xmlns:p14="http://schemas.microsoft.com/office/powerpoint/2010/main" val="3347970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EF7C3A7-D6F6-4D38-A7C3-B72967BB81A6}" type="datetime1">
              <a:rPr lang="en-US" smtClean="0"/>
              <a:t>2/23/26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586042B-6341-4E38-A80C-926D3BB8AAC9}" type="slidenum">
              <a:rPr lang="en-US" smtClean="0"/>
              <a:t>‹#›</a:t>
            </a:fld>
            <a:endParaRPr lang="en-US"/>
          </a:p>
        </p:txBody>
      </p:sp>
    </p:spTree>
    <p:extLst>
      <p:ext uri="{BB962C8B-B14F-4D97-AF65-F5344CB8AC3E}">
        <p14:creationId xmlns:p14="http://schemas.microsoft.com/office/powerpoint/2010/main" val="2389981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and white light lines&#10;&#10;AI-generated content may be incorrect.">
            <a:extLst>
              <a:ext uri="{FF2B5EF4-FFF2-40B4-BE49-F238E27FC236}">
                <a16:creationId xmlns:a16="http://schemas.microsoft.com/office/drawing/2014/main" id="{6ED37DA5-4A1E-6108-A168-607472FD1845}"/>
              </a:ext>
            </a:extLst>
          </p:cNvPr>
          <p:cNvPicPr>
            <a:picLocks noChangeAspect="1"/>
          </p:cNvPicPr>
          <p:nvPr/>
        </p:nvPicPr>
        <p:blipFill>
          <a:blip r:embed="rId2"/>
          <a:srcRect t="9907" b="93"/>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E92BB33-81FF-6B96-AF5F-3B8A9DF3633D}"/>
              </a:ext>
            </a:extLst>
          </p:cNvPr>
          <p:cNvSpPr>
            <a:spLocks noGrp="1"/>
          </p:cNvSpPr>
          <p:nvPr>
            <p:ph type="ctrTitle"/>
          </p:nvPr>
        </p:nvSpPr>
        <p:spPr>
          <a:xfrm>
            <a:off x="1600200" y="2386744"/>
            <a:ext cx="8991600" cy="1645920"/>
          </a:xfrm>
          <a:solidFill>
            <a:schemeClr val="bg1">
              <a:alpha val="60000"/>
            </a:schemeClr>
          </a:solidFill>
          <a:ln w="38100" cap="sq">
            <a:solidFill>
              <a:schemeClr val="tx1"/>
            </a:solidFill>
            <a:miter lim="800000"/>
          </a:ln>
        </p:spPr>
        <p:txBody>
          <a:bodyPr anchor="ctr">
            <a:normAutofit/>
          </a:bodyPr>
          <a:lstStyle/>
          <a:p>
            <a:r>
              <a:rPr lang="en-US">
                <a:solidFill>
                  <a:schemeClr val="tx1"/>
                </a:solidFill>
              </a:rPr>
              <a:t>Barriers to Implementing a Just Culture</a:t>
            </a:r>
          </a:p>
        </p:txBody>
      </p:sp>
      <p:sp>
        <p:nvSpPr>
          <p:cNvPr id="3" name="Subtitle 2">
            <a:extLst>
              <a:ext uri="{FF2B5EF4-FFF2-40B4-BE49-F238E27FC236}">
                <a16:creationId xmlns:a16="http://schemas.microsoft.com/office/drawing/2014/main" id="{F344088F-B4C5-568A-09D0-6D23AA02D9AA}"/>
              </a:ext>
            </a:extLst>
          </p:cNvPr>
          <p:cNvSpPr>
            <a:spLocks noGrp="1"/>
          </p:cNvSpPr>
          <p:nvPr>
            <p:ph type="subTitle" idx="1"/>
          </p:nvPr>
        </p:nvSpPr>
        <p:spPr>
          <a:xfrm>
            <a:off x="2695194" y="4352544"/>
            <a:ext cx="6801612" cy="1239894"/>
          </a:xfrm>
        </p:spPr>
        <p:txBody>
          <a:bodyPr>
            <a:normAutofit/>
          </a:bodyPr>
          <a:lstStyle/>
          <a:p>
            <a:r>
              <a:rPr lang="en-US" dirty="0">
                <a:solidFill>
                  <a:srgbClr val="FFFFFF"/>
                </a:solidFill>
              </a:rPr>
              <a:t>2/23/26 – Tevyah Hanley – Sue Sampson (CSD-380)</a:t>
            </a:r>
          </a:p>
        </p:txBody>
      </p:sp>
    </p:spTree>
    <p:extLst>
      <p:ext uri="{BB962C8B-B14F-4D97-AF65-F5344CB8AC3E}">
        <p14:creationId xmlns:p14="http://schemas.microsoft.com/office/powerpoint/2010/main" val="310061189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E87A3-572B-8A70-B8F3-D4C29136B621}"/>
              </a:ext>
            </a:extLst>
          </p:cNvPr>
          <p:cNvSpPr>
            <a:spLocks noGrp="1"/>
          </p:cNvSpPr>
          <p:nvPr>
            <p:ph type="title"/>
          </p:nvPr>
        </p:nvSpPr>
        <p:spPr/>
        <p:txBody>
          <a:bodyPr/>
          <a:lstStyle/>
          <a:p>
            <a:r>
              <a:rPr lang="en-US" dirty="0"/>
              <a:t>What is a Just Culture?</a:t>
            </a:r>
          </a:p>
        </p:txBody>
      </p:sp>
      <p:sp>
        <p:nvSpPr>
          <p:cNvPr id="3" name="Text Placeholder 2">
            <a:extLst>
              <a:ext uri="{FF2B5EF4-FFF2-40B4-BE49-F238E27FC236}">
                <a16:creationId xmlns:a16="http://schemas.microsoft.com/office/drawing/2014/main" id="{A1A4CE7F-CB10-1305-E906-15E7809E7562}"/>
              </a:ext>
            </a:extLst>
          </p:cNvPr>
          <p:cNvSpPr>
            <a:spLocks noGrp="1"/>
          </p:cNvSpPr>
          <p:nvPr>
            <p:ph type="body" idx="1"/>
          </p:nvPr>
        </p:nvSpPr>
        <p:spPr/>
        <p:txBody>
          <a:bodyPr>
            <a:normAutofit fontScale="25000" lnSpcReduction="20000"/>
          </a:bodyPr>
          <a:lstStyle/>
          <a:p>
            <a:pPr algn="ctr"/>
            <a:r>
              <a:rPr lang="en-US" sz="6200" b="1" dirty="0"/>
              <a:t>A culture that encourages open reporting of failures, incidents, and near misses.</a:t>
            </a:r>
          </a:p>
          <a:p>
            <a:pPr algn="ctr"/>
            <a:r>
              <a:rPr lang="en-US" sz="6200" b="1" dirty="0"/>
              <a:t>Focuses on system design rather than individual blame.</a:t>
            </a:r>
          </a:p>
          <a:p>
            <a:pPr algn="ctr"/>
            <a:r>
              <a:rPr lang="en-US" sz="6200" b="1" dirty="0"/>
              <a:t>Makes sure that it knows what errors need to have accountability for your team</a:t>
            </a:r>
          </a:p>
          <a:p>
            <a:endParaRPr lang="en-US" dirty="0"/>
          </a:p>
        </p:txBody>
      </p:sp>
    </p:spTree>
    <p:extLst>
      <p:ext uri="{BB962C8B-B14F-4D97-AF65-F5344CB8AC3E}">
        <p14:creationId xmlns:p14="http://schemas.microsoft.com/office/powerpoint/2010/main" val="3146903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746D-405C-29F5-A1B8-E05E94FFA989}"/>
              </a:ext>
            </a:extLst>
          </p:cNvPr>
          <p:cNvSpPr>
            <a:spLocks noGrp="1"/>
          </p:cNvSpPr>
          <p:nvPr>
            <p:ph type="title"/>
          </p:nvPr>
        </p:nvSpPr>
        <p:spPr/>
        <p:txBody>
          <a:bodyPr/>
          <a:lstStyle/>
          <a:p>
            <a:r>
              <a:rPr lang="en-US" dirty="0"/>
              <a:t>Why implement a Just Culture?</a:t>
            </a:r>
          </a:p>
        </p:txBody>
      </p:sp>
      <p:sp>
        <p:nvSpPr>
          <p:cNvPr id="3" name="Content Placeholder 2">
            <a:extLst>
              <a:ext uri="{FF2B5EF4-FFF2-40B4-BE49-F238E27FC236}">
                <a16:creationId xmlns:a16="http://schemas.microsoft.com/office/drawing/2014/main" id="{708340C4-45A1-D2B3-49B9-4005B43CD1F8}"/>
              </a:ext>
            </a:extLst>
          </p:cNvPr>
          <p:cNvSpPr>
            <a:spLocks noGrp="1"/>
          </p:cNvSpPr>
          <p:nvPr>
            <p:ph idx="1"/>
          </p:nvPr>
        </p:nvSpPr>
        <p:spPr/>
        <p:txBody>
          <a:bodyPr/>
          <a:lstStyle/>
          <a:p>
            <a:r>
              <a:rPr lang="en-US" dirty="0"/>
              <a:t>Has your team be more accountable in the long run.</a:t>
            </a:r>
          </a:p>
          <a:p>
            <a:r>
              <a:rPr lang="en-US" dirty="0"/>
              <a:t>Improves your teams overall safety, morale, and learning for your whole company. </a:t>
            </a:r>
          </a:p>
          <a:p>
            <a:r>
              <a:rPr lang="en-US" dirty="0"/>
              <a:t>Reduces repeat errors by focusing on root causes rather than punishment.</a:t>
            </a:r>
          </a:p>
          <a:p>
            <a:r>
              <a:rPr lang="en-US" dirty="0"/>
              <a:t>Makes it where your projects issues are more likely to get pointed out instead of hidden. </a:t>
            </a:r>
          </a:p>
          <a:p>
            <a:pPr marL="0" indent="0">
              <a:buNone/>
            </a:pPr>
            <a:endParaRPr lang="en-US" dirty="0"/>
          </a:p>
        </p:txBody>
      </p:sp>
    </p:spTree>
    <p:extLst>
      <p:ext uri="{BB962C8B-B14F-4D97-AF65-F5344CB8AC3E}">
        <p14:creationId xmlns:p14="http://schemas.microsoft.com/office/powerpoint/2010/main" val="677299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08AA7-A626-638C-A3F2-F35C3FC22565}"/>
              </a:ext>
            </a:extLst>
          </p:cNvPr>
          <p:cNvSpPr>
            <a:spLocks noGrp="1"/>
          </p:cNvSpPr>
          <p:nvPr>
            <p:ph type="title"/>
          </p:nvPr>
        </p:nvSpPr>
        <p:spPr/>
        <p:txBody>
          <a:bodyPr/>
          <a:lstStyle/>
          <a:p>
            <a:r>
              <a:rPr lang="en-US" dirty="0"/>
              <a:t>Major Barriers in DevOps Without a Just Culture</a:t>
            </a:r>
          </a:p>
        </p:txBody>
      </p:sp>
      <p:sp>
        <p:nvSpPr>
          <p:cNvPr id="3" name="Content Placeholder 2">
            <a:extLst>
              <a:ext uri="{FF2B5EF4-FFF2-40B4-BE49-F238E27FC236}">
                <a16:creationId xmlns:a16="http://schemas.microsoft.com/office/drawing/2014/main" id="{B0AE49A8-2E6F-FB83-33C4-0E6221F8F1BD}"/>
              </a:ext>
            </a:extLst>
          </p:cNvPr>
          <p:cNvSpPr>
            <a:spLocks noGrp="1"/>
          </p:cNvSpPr>
          <p:nvPr>
            <p:ph idx="1"/>
          </p:nvPr>
        </p:nvSpPr>
        <p:spPr/>
        <p:txBody>
          <a:bodyPr/>
          <a:lstStyle/>
          <a:p>
            <a:r>
              <a:rPr lang="en-US" dirty="0"/>
              <a:t>Blame culture: Where your team is going to blame either the project, or each other to take the heat off of them</a:t>
            </a:r>
          </a:p>
          <a:p>
            <a:r>
              <a:rPr lang="en-US" dirty="0"/>
              <a:t>Improper leadership: Your leadership might be the issue, but they can blame their team and take the pressure off of them. </a:t>
            </a:r>
          </a:p>
          <a:p>
            <a:r>
              <a:rPr lang="en-US" dirty="0"/>
              <a:t>Time Pressure: Instead of dealing with the issues, your team might overlook them and try to not point them out as long as possible.</a:t>
            </a:r>
          </a:p>
        </p:txBody>
      </p:sp>
    </p:spTree>
    <p:extLst>
      <p:ext uri="{BB962C8B-B14F-4D97-AF65-F5344CB8AC3E}">
        <p14:creationId xmlns:p14="http://schemas.microsoft.com/office/powerpoint/2010/main" val="380591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C981-3BAC-EA68-19FF-244A91A799E0}"/>
              </a:ext>
            </a:extLst>
          </p:cNvPr>
          <p:cNvSpPr>
            <a:spLocks noGrp="1"/>
          </p:cNvSpPr>
          <p:nvPr>
            <p:ph type="title"/>
          </p:nvPr>
        </p:nvSpPr>
        <p:spPr/>
        <p:txBody>
          <a:bodyPr/>
          <a:lstStyle/>
          <a:p>
            <a:r>
              <a:rPr lang="en-US" dirty="0"/>
              <a:t>Root causes of poor Just Culture</a:t>
            </a:r>
          </a:p>
        </p:txBody>
      </p:sp>
      <p:sp>
        <p:nvSpPr>
          <p:cNvPr id="4" name="Text Placeholder 3">
            <a:extLst>
              <a:ext uri="{FF2B5EF4-FFF2-40B4-BE49-F238E27FC236}">
                <a16:creationId xmlns:a16="http://schemas.microsoft.com/office/drawing/2014/main" id="{FCFEAAD1-B7C4-D9E2-06E2-F383989CB6E1}"/>
              </a:ext>
            </a:extLst>
          </p:cNvPr>
          <p:cNvSpPr>
            <a:spLocks noGrp="1"/>
          </p:cNvSpPr>
          <p:nvPr>
            <p:ph type="body" sz="half" idx="2"/>
          </p:nvPr>
        </p:nvSpPr>
        <p:spPr/>
        <p:txBody>
          <a:bodyPr/>
          <a:lstStyle/>
          <a:p>
            <a:r>
              <a:rPr lang="en-US" dirty="0"/>
              <a:t>This diagram illustrates the root causes that prevent a Just Culture from developing.  While this image is for content creation, the point is still there. Without the proper system in place, you are branching off other issues from the root cause. </a:t>
            </a:r>
          </a:p>
        </p:txBody>
      </p:sp>
      <p:pic>
        <p:nvPicPr>
          <p:cNvPr id="10" name="Content Placeholder 9" descr="A diagram of a diagram&#10;&#10;AI-generated content may be incorrect.">
            <a:extLst>
              <a:ext uri="{FF2B5EF4-FFF2-40B4-BE49-F238E27FC236}">
                <a16:creationId xmlns:a16="http://schemas.microsoft.com/office/drawing/2014/main" id="{53749B96-304B-4AA4-A93D-A11E65403F36}"/>
              </a:ext>
            </a:extLst>
          </p:cNvPr>
          <p:cNvPicPr>
            <a:picLocks noGrp="1" noChangeAspect="1"/>
          </p:cNvPicPr>
          <p:nvPr>
            <p:ph idx="1"/>
          </p:nvPr>
        </p:nvPicPr>
        <p:blipFill>
          <a:blip r:embed="rId2"/>
          <a:stretch>
            <a:fillRect/>
          </a:stretch>
        </p:blipFill>
        <p:spPr>
          <a:xfrm>
            <a:off x="6735763" y="2158629"/>
            <a:ext cx="4816475" cy="2540743"/>
          </a:xfrm>
          <a:prstGeom prst="rect">
            <a:avLst/>
          </a:prstGeom>
        </p:spPr>
      </p:pic>
    </p:spTree>
    <p:extLst>
      <p:ext uri="{BB962C8B-B14F-4D97-AF65-F5344CB8AC3E}">
        <p14:creationId xmlns:p14="http://schemas.microsoft.com/office/powerpoint/2010/main" val="2064200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F12-B697-1A90-C028-A610B53714ED}"/>
              </a:ext>
            </a:extLst>
          </p:cNvPr>
          <p:cNvSpPr>
            <a:spLocks noGrp="1"/>
          </p:cNvSpPr>
          <p:nvPr>
            <p:ph type="title"/>
          </p:nvPr>
        </p:nvSpPr>
        <p:spPr/>
        <p:txBody>
          <a:bodyPr/>
          <a:lstStyle/>
          <a:p>
            <a:r>
              <a:rPr lang="en-US" dirty="0"/>
              <a:t>How to overcome these barriers</a:t>
            </a:r>
          </a:p>
        </p:txBody>
      </p:sp>
      <p:sp>
        <p:nvSpPr>
          <p:cNvPr id="4" name="Rectangle 1">
            <a:extLst>
              <a:ext uri="{FF2B5EF4-FFF2-40B4-BE49-F238E27FC236}">
                <a16:creationId xmlns:a16="http://schemas.microsoft.com/office/drawing/2014/main" id="{4574C826-CF99-85D9-94A3-133AEC1591CF}"/>
              </a:ext>
            </a:extLst>
          </p:cNvPr>
          <p:cNvSpPr>
            <a:spLocks noGrp="1" noChangeArrowheads="1"/>
          </p:cNvSpPr>
          <p:nvPr>
            <p:ph type="body" idx="1"/>
          </p:nvPr>
        </p:nvSpPr>
        <p:spPr bwMode="auto">
          <a:xfrm>
            <a:off x="2940036" y="4384842"/>
            <a:ext cx="52766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Separate performance reviews from incident mistakes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Clear accountability framework</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Publicly share lessons learned</a:t>
            </a:r>
          </a:p>
          <a:p>
            <a:pPr marL="0" marR="0" lvl="0" indent="0" algn="ctr" defTabSz="914400" rtl="0" eaLnBrk="0" fontAlgn="base" latinLnBrk="0" hangingPunct="0">
              <a:lnSpc>
                <a:spcPct val="100000"/>
              </a:lnSpc>
              <a:spcBef>
                <a:spcPct val="0"/>
              </a:spcBef>
              <a:spcAft>
                <a:spcPct val="0"/>
              </a:spcAft>
              <a:buClrTx/>
              <a:buSzTx/>
              <a:buFontTx/>
              <a:buChar char="•"/>
              <a:tabLst/>
            </a:pPr>
            <a:r>
              <a:rPr lang="en-US" altLang="en-US" sz="1800" dirty="0"/>
              <a:t>Take accountability as a team</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37690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93F16-99FF-40C4-CB0D-3BE30E733687}"/>
              </a:ext>
            </a:extLst>
          </p:cNvPr>
          <p:cNvSpPr>
            <a:spLocks noGrp="1"/>
          </p:cNvSpPr>
          <p:nvPr>
            <p:ph type="title"/>
          </p:nvPr>
        </p:nvSpPr>
        <p:spPr/>
        <p:txBody>
          <a:bodyPr/>
          <a:lstStyle/>
          <a:p>
            <a:r>
              <a:rPr lang="en-US" dirty="0"/>
              <a:t>To Sum Up</a:t>
            </a:r>
          </a:p>
        </p:txBody>
      </p:sp>
      <p:sp>
        <p:nvSpPr>
          <p:cNvPr id="3" name="Content Placeholder 2">
            <a:extLst>
              <a:ext uri="{FF2B5EF4-FFF2-40B4-BE49-F238E27FC236}">
                <a16:creationId xmlns:a16="http://schemas.microsoft.com/office/drawing/2014/main" id="{969B8CA2-B105-DF08-A5A1-FFBE82DB1777}"/>
              </a:ext>
            </a:extLst>
          </p:cNvPr>
          <p:cNvSpPr>
            <a:spLocks noGrp="1"/>
          </p:cNvSpPr>
          <p:nvPr>
            <p:ph idx="1"/>
          </p:nvPr>
        </p:nvSpPr>
        <p:spPr/>
        <p:txBody>
          <a:bodyPr/>
          <a:lstStyle/>
          <a:p>
            <a:r>
              <a:rPr lang="en-US" dirty="0"/>
              <a:t>Just Culture is super important for your DevOps team</a:t>
            </a:r>
          </a:p>
          <a:p>
            <a:r>
              <a:rPr lang="en-US" dirty="0"/>
              <a:t>The biggest barriers are when it’s a problem organizationally</a:t>
            </a:r>
          </a:p>
          <a:p>
            <a:r>
              <a:rPr lang="en-US" dirty="0"/>
              <a:t>Leadership determines your teams overall success.</a:t>
            </a:r>
          </a:p>
          <a:p>
            <a:r>
              <a:rPr lang="en-US" dirty="0"/>
              <a:t>A true Just Culture improves reliability, innovation, and trust.</a:t>
            </a:r>
          </a:p>
          <a:p>
            <a:endParaRPr lang="en-US" dirty="0"/>
          </a:p>
        </p:txBody>
      </p:sp>
    </p:spTree>
    <p:extLst>
      <p:ext uri="{BB962C8B-B14F-4D97-AF65-F5344CB8AC3E}">
        <p14:creationId xmlns:p14="http://schemas.microsoft.com/office/powerpoint/2010/main" val="4111559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3D72-B4C6-BDD9-5B41-8E634FA10927}"/>
              </a:ext>
            </a:extLst>
          </p:cNvPr>
          <p:cNvSpPr>
            <a:spLocks noGrp="1"/>
          </p:cNvSpPr>
          <p:nvPr>
            <p:ph type="ctrTitle"/>
          </p:nvPr>
        </p:nvSpPr>
        <p:spPr/>
        <p:txBody>
          <a:bodyPr/>
          <a:lstStyle/>
          <a:p>
            <a:r>
              <a:rPr lang="en-US"/>
              <a:t>Thank you!</a:t>
            </a:r>
          </a:p>
        </p:txBody>
      </p:sp>
      <p:sp>
        <p:nvSpPr>
          <p:cNvPr id="3" name="Subtitle 2">
            <a:extLst>
              <a:ext uri="{FF2B5EF4-FFF2-40B4-BE49-F238E27FC236}">
                <a16:creationId xmlns:a16="http://schemas.microsoft.com/office/drawing/2014/main" id="{840C88F8-8D8A-6239-7B2B-02669F4A562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4914540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27</TotalTime>
  <Words>322</Words>
  <Application>Microsoft Macintosh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Gill Sans MT</vt:lpstr>
      <vt:lpstr>Parcel</vt:lpstr>
      <vt:lpstr>Barriers to Implementing a Just Culture</vt:lpstr>
      <vt:lpstr>What is a Just Culture?</vt:lpstr>
      <vt:lpstr>Why implement a Just Culture?</vt:lpstr>
      <vt:lpstr>Major Barriers in DevOps Without a Just Culture</vt:lpstr>
      <vt:lpstr>Root causes of poor Just Culture</vt:lpstr>
      <vt:lpstr>How to overcome these barriers</vt:lpstr>
      <vt:lpstr>To Sum Up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Tevyah Hanley</dc:creator>
  <cp:lastModifiedBy>Tevyah Hanley</cp:lastModifiedBy>
  <cp:revision>1</cp:revision>
  <dcterms:created xsi:type="dcterms:W3CDTF">2026-02-23T18:02:40Z</dcterms:created>
  <dcterms:modified xsi:type="dcterms:W3CDTF">2026-02-23T18:29:42Z</dcterms:modified>
</cp:coreProperties>
</file>